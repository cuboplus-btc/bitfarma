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365760"/>
            <a:ext cx="1645920" cy="1645920"/>
          </a:xfrm>
          <a:prstGeom prst="ellipse">
            <a:avLst/>
          </a:prstGeom>
          <a:solidFill>
            <a:srgbClr val="1E6DB4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2011680" cy="201168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CUBO+ GRADUATION PROJECT</a:t>
            </a:r>
            <a:endParaRPr lang="en-US" sz="1000" dirty="0"/>
          </a:p>
        </p:txBody>
      </p:sp>
      <p:pic>
        <p:nvPicPr>
          <p:cNvPr id="7" name="Image 0" descr="/mnt/user-data/uploads/10002208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502920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Pharmacy Platform for the Bitcoin Economy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4114800" cy="36576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926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AI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246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34640" y="2926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34640" y="3246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12080" y="2926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/ BTC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12080" y="3246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Salvador  ·  2026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805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881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0881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3990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Bitcoin pharmacy · No online pharmacy in El Salvador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51560"/>
            <a:ext cx="73152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0881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68112" y="10881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68112" y="13990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BitFarma — AI-powered, Bitcoin-native pharmacy platform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01168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11680"/>
            <a:ext cx="73152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0482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20482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23591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 roles: Administrator, Pharmacist, Patient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01168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011680"/>
            <a:ext cx="73152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0482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68112" y="20482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68112" y="23591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development · Railway cloud deployment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71800"/>
            <a:ext cx="73152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0083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6112" y="30083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Payments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" y="33192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QR code integration · Lightning Network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97180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971800"/>
            <a:ext cx="73152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0083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68112" y="30083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68112" y="33192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· Go-to-market · Scalability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93192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931920"/>
            <a:ext cx="73152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96849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96112" y="39684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96112" y="4279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Drugstore partnership · Comodato agreement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3931920"/>
            <a:ext cx="4251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931920"/>
            <a:ext cx="73152" cy="80467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396849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68112" y="39684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68112" y="4279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launch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7373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with Bitcoin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Legal Tender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Law 2021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737360"/>
          </a:xfrm>
          <a:prstGeom prst="rect">
            <a:avLst/>
          </a:prstGeom>
          <a:solidFill>
            <a:srgbClr val="CC223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789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Bitcoin-only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of El Salvador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737360"/>
          </a:xfrm>
          <a:prstGeom prst="rect">
            <a:avLst/>
          </a:prstGeom>
          <a:solidFill>
            <a:srgbClr val="CC223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0789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2648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prescription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patients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 Identified: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154680"/>
            <a:ext cx="8412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Bitcoin-native pharmacy exists in El Salvador despite legal framework supporting 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 is fully analog — paper, manual processes, no patient visibility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inventory is mismanaged with no real-time stock alerts or digital controls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delivery of medications is not integrated with any prescription management system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adoption in essential-goods sectors (healthcare) remains completely untapped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pic>
        <p:nvPicPr>
          <p:cNvPr id="4" name="Image 0" descr="/mnt/user-data/uploads/10002208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58368"/>
            <a:ext cx="4389120" cy="1024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7190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Salvador's first AI-powered, Bitcoin-only pharmacy platform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2286000"/>
            <a:ext cx="4114800" cy="2514600"/>
          </a:xfrm>
          <a:prstGeom prst="rect">
            <a:avLst/>
          </a:prstGeom>
          <a:solidFill>
            <a:srgbClr val="1A2F5E"/>
          </a:solidFill>
          <a:ln w="19050">
            <a:solidFill>
              <a:srgbClr val="1E6D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2286000"/>
            <a:ext cx="4114800" cy="36576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7614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Proof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145536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pharmacy management app modeled on ISSS Social Security pharmacy workflow. 3-role system: Admin, Pharmacist, Patient.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286000"/>
            <a:ext cx="4114800" cy="2514600"/>
          </a:xfrm>
          <a:prstGeom prst="rect">
            <a:avLst/>
          </a:prstGeom>
          <a:solidFill>
            <a:srgbClr val="1A2F5E"/>
          </a:solidFill>
          <a:ln w="1905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92040" y="27614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Launch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92040" y="3145536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&amp; adapted codebase with Bitcoin-only payments via Tiankii QR codes. Private pharmacy ready for El Salvador market.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3 USER ROLES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87552"/>
            <a:ext cx="278892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27889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24128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6276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" y="2084832"/>
            <a:ext cx="128016" cy="12801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inventory control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" y="2615184"/>
            <a:ext cx="128016" cy="12801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" y="2542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alerts &amp; tracking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" y="3145536"/>
            <a:ext cx="128016" cy="12801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30723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" y="3675888"/>
            <a:ext cx="128016" cy="12801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36027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reports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" y="4206240"/>
            <a:ext cx="128016" cy="128016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41330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reporting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00400" y="987552"/>
            <a:ext cx="278892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0" y="987552"/>
            <a:ext cx="2788920" cy="91440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24128"/>
            <a:ext cx="594360" cy="5943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00400" y="16276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401568" y="2084832"/>
            <a:ext cx="128016" cy="128016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02736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uploaded prescriptions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401568" y="2615184"/>
            <a:ext cx="128016" cy="128016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02736" y="2542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 from inventory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401568" y="3145536"/>
            <a:ext cx="128016" cy="128016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02736" y="30723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PDF labels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401568" y="3675888"/>
            <a:ext cx="128016" cy="128016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602736" y="36027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workflow states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401568" y="4206240"/>
            <a:ext cx="128016" cy="128016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02736" y="41330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delivery address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126480" y="987552"/>
            <a:ext cx="278892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126480" y="987552"/>
            <a:ext cx="2788920" cy="91440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024128"/>
            <a:ext cx="594360" cy="59436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126480" y="162763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327648" y="2084832"/>
            <a:ext cx="128016" cy="128016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528816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prescription (PDF/JPG)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327648" y="2615184"/>
            <a:ext cx="128016" cy="128016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528816" y="2542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special instructions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327648" y="3145536"/>
            <a:ext cx="128016" cy="128016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528816" y="30723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delivery address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6327648" y="3675888"/>
            <a:ext cx="128016" cy="128016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528816" y="36027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in real-time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327648" y="4206240"/>
            <a:ext cx="128016" cy="128016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528816" y="41330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→ Delivered flow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548640" y="4663440"/>
            <a:ext cx="1691640" cy="32004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548640" y="4663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000" dirty="0"/>
          </a:p>
        </p:txBody>
      </p:sp>
      <p:sp>
        <p:nvSpPr>
          <p:cNvPr id="49" name="Text 44"/>
          <p:cNvSpPr/>
          <p:nvPr/>
        </p:nvSpPr>
        <p:spPr>
          <a:xfrm>
            <a:off x="2240280" y="4663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5"/>
          <p:cNvSpPr/>
          <p:nvPr/>
        </p:nvSpPr>
        <p:spPr>
          <a:xfrm>
            <a:off x="2651760" y="4663440"/>
            <a:ext cx="1691640" cy="32004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2651760" y="4663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Prep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4343400" y="4663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48"/>
          <p:cNvSpPr/>
          <p:nvPr/>
        </p:nvSpPr>
        <p:spPr>
          <a:xfrm>
            <a:off x="4754880" y="4663440"/>
            <a:ext cx="1691640" cy="32004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754880" y="4663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55" name="Text 50"/>
          <p:cNvSpPr/>
          <p:nvPr/>
        </p:nvSpPr>
        <p:spPr>
          <a:xfrm>
            <a:off x="6446520" y="4663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6" name="Shape 51"/>
          <p:cNvSpPr/>
          <p:nvPr/>
        </p:nvSpPr>
        <p:spPr>
          <a:xfrm>
            <a:off x="6858000" y="4663440"/>
            <a:ext cx="169164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858000" y="4663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88920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115568"/>
            <a:ext cx="868680" cy="8686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97864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06654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74320" y="24231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74320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application designed and built using OpenClaw, an AI-powered development environment. Enables a single developer to architect complex multi-role systems at startup speed.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788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005840"/>
            <a:ext cx="2788920" cy="54864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115568"/>
            <a:ext cx="868680" cy="86868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97864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0" y="206654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200400" y="24231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83280" y="274320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via Railway PaaS. Auto-deploy from GitHub, persistent DB, SSL, and custom domain. The app is live and accessible from any device — not just a prototype.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26480" y="1005840"/>
            <a:ext cx="2788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005840"/>
            <a:ext cx="2788920" cy="54864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086600" y="1115568"/>
            <a:ext cx="868680" cy="8686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97864"/>
            <a:ext cx="594360" cy="5943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26480" y="206654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Adapt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126480" y="24231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309360" y="2743200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ISSS codebase was cloned and adapted for BitFarma in minimal time. Demonstrates modularity — new pharmacies can be onboarded by replicating the codebase with low overhead.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AI-assisted development is not just a tool — it is a paradigm shift for solo founders and lean startups.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PAYMENTS — TIANKII INTEGRATION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993392" cy="2743200"/>
          </a:xfrm>
          <a:prstGeom prst="rect">
            <a:avLst/>
          </a:prstGeom>
          <a:solidFill>
            <a:srgbClr val="1A2F5E"/>
          </a:solidFill>
          <a:ln w="1016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859536"/>
            <a:ext cx="822960" cy="82296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85953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01368"/>
            <a:ext cx="713232" cy="713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57860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1089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marks order as ready in the workflow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67712" y="13716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450592" y="749808"/>
            <a:ext cx="1993392" cy="2743200"/>
          </a:xfrm>
          <a:prstGeom prst="rect">
            <a:avLst/>
          </a:prstGeom>
          <a:solidFill>
            <a:srgbClr val="1A2F5E"/>
          </a:solidFill>
          <a:ln w="1016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17520" y="859536"/>
            <a:ext cx="822960" cy="82296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85953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801368"/>
            <a:ext cx="713232" cy="7132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50592" y="257860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42032" y="31089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payment link rendered as QR in the app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443984" y="13716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626864" y="749808"/>
            <a:ext cx="1993392" cy="2743200"/>
          </a:xfrm>
          <a:prstGeom prst="rect">
            <a:avLst/>
          </a:prstGeom>
          <a:solidFill>
            <a:srgbClr val="1A2F5E"/>
          </a:solidFill>
          <a:ln w="1016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93792" y="859536"/>
            <a:ext cx="822960" cy="82296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93792" y="85953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801368"/>
            <a:ext cx="713232" cy="7132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26864" y="257860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&amp; Pays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718304" y="31089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Bitcoin / Lightning wallet — Chivo, Blue, Phoenix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620256" y="13716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6803136" y="749808"/>
            <a:ext cx="1993392" cy="2743200"/>
          </a:xfrm>
          <a:prstGeom prst="rect">
            <a:avLst/>
          </a:prstGeom>
          <a:solidFill>
            <a:srgbClr val="1A2F5E"/>
          </a:solidFill>
          <a:ln w="10160">
            <a:solidFill>
              <a:srgbClr val="F79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70064" y="859536"/>
            <a:ext cx="822960" cy="82296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370064" y="85953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1801368"/>
            <a:ext cx="713232" cy="7132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03136" y="257860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894576" y="31089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confirms payment, order moves to Delivered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274320" y="3639312"/>
            <a:ext cx="8595360" cy="1325880"/>
          </a:xfrm>
          <a:prstGeom prst="rect">
            <a:avLst/>
          </a:prstGeom>
          <a:solidFill>
            <a:srgbClr val="1A2F5E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02920" y="37124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Bitcoin Only?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02920" y="40416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differentiation in El Salvador's Bitcoin legal tender market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Network = near-zero fees, instant settlement, no chargebacks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Mission-driven: driving daily Bitcoin use in essential healthcare commerce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115568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7556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Sales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1488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 from Bitcoin-priced medication sales. Real-time BTC/USD conversion at purchase.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115568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17556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Licensing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1488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BitFarma SaaS to other independent pharmacies wanting to digitize and accept Bitcoin.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00584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115568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17556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Fees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63640" y="21488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delivery add-on. Integrated with last-mile logistics partners (in development).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65760" y="3493008"/>
            <a:ext cx="201168" cy="201168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58368" y="3401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Community Launch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291840" y="3401568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Bitcoin holders via meetups, conferences &amp; social media in El Salvador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65760" y="4023360"/>
            <a:ext cx="201168" cy="201168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58368" y="3931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B2B Partnerships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291840" y="3931920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Bitcoin-focused employers &amp; orgs for pharmacy benefits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65760" y="4553712"/>
            <a:ext cx="201168" cy="201168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8368" y="44622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Platform Scale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3291840" y="4462272"/>
            <a:ext cx="5577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BitFarma to more pharmacies; build a Bitcoin pharmacy network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PARTNERSHIPS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205740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1556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1556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Drugstore Partner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14447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pharmaceutical distributor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" y="1965960"/>
            <a:ext cx="109728" cy="109728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catalog &amp; bulk pricing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240280"/>
            <a:ext cx="109728" cy="109728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documentation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2514600"/>
            <a:ext cx="109728" cy="109728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cold-chain logistics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2788920"/>
            <a:ext cx="109728" cy="109728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confirmed — active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005840"/>
            <a:ext cx="4114800" cy="2057400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15568"/>
            <a:ext cx="594360" cy="594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69280" y="111556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Comodato Agreement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669280" y="14447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what you sell — consignment model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892040" y="196596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7492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inventory capital needed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892040" y="22402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unsold-stock risk at launch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892040" y="251460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749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time-to-market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892040" y="278892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749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as volume grows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74320" y="3246120"/>
            <a:ext cx="8595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274320" y="3246120"/>
            <a:ext cx="73152" cy="160020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01568"/>
            <a:ext cx="594360" cy="5943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170432" y="333756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— Bitcoin Payment Partner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170432" y="3712464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integration is complete. QR Lightning payment fully implemented. </a:t>
            </a:r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enables Bitcoin &amp; Lightning Network payments via QR codes — fully compatible with Chivo Wallet and all major Bitcoin wallets in El Salvador.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ROADMAP TO LAUNCH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33856"/>
            <a:ext cx="457200" cy="457200"/>
          </a:xfrm>
          <a:prstGeom prst="ellipse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33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170432"/>
            <a:ext cx="960120" cy="237744"/>
          </a:xfrm>
          <a:prstGeom prst="rect">
            <a:avLst/>
          </a:prstGeom>
          <a:solidFill>
            <a:srgbClr val="2A9D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70432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993392" y="1060704"/>
            <a:ext cx="6720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Tiankii Payment 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93392" y="1371600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QR Lightning payment fully implemented and live in the app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1051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938528"/>
            <a:ext cx="457200" cy="45720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1975104"/>
            <a:ext cx="960120" cy="237744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75104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993392" y="1865376"/>
            <a:ext cx="6720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Drugstore Comodato Agreement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93392" y="2176272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consignment contract and define initial medication catalog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615184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743200"/>
            <a:ext cx="457200" cy="45720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2779776"/>
            <a:ext cx="960120" cy="237744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779776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993392" y="2670048"/>
            <a:ext cx="6720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 Partners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93392" y="2980944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logistics partnerships for home delivery fulfillment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419856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547872"/>
            <a:ext cx="457200" cy="457200"/>
          </a:xfrm>
          <a:prstGeom prst="ellipse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3584448"/>
            <a:ext cx="960120" cy="237744"/>
          </a:xfrm>
          <a:prstGeom prst="rect">
            <a:avLst/>
          </a:prstGeom>
          <a:solidFill>
            <a:srgbClr val="1E6D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584448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993392" y="3474720"/>
            <a:ext cx="6720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Launch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993392" y="3785616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for Bitcoin community in El Salvador via meetups and social media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224528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4352544"/>
            <a:ext cx="457200" cy="457200"/>
          </a:xfrm>
          <a:prstGeom prst="ellipse">
            <a:avLst/>
          </a:prstGeom>
          <a:solidFill>
            <a:srgbClr val="6C7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14400" y="4389120"/>
            <a:ext cx="960120" cy="237744"/>
          </a:xfrm>
          <a:prstGeom prst="rect">
            <a:avLst/>
          </a:prstGeom>
          <a:solidFill>
            <a:srgbClr val="6C7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38912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993392" y="4279392"/>
            <a:ext cx="6720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Licensing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993392" y="4590288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BitFarma SaaS to independent pharmacies wanting Bitcoin capabilities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2286000"/>
            <a:ext cx="2743200" cy="2743200"/>
          </a:xfrm>
          <a:prstGeom prst="ellipse">
            <a:avLst/>
          </a:prstGeom>
          <a:solidFill>
            <a:srgbClr val="1A2F5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mnt/user-data/uploads/10002208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57200"/>
            <a:ext cx="4206240" cy="9875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27632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the money. Fix the world.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healthcare."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14400" y="2724912"/>
            <a:ext cx="3474720" cy="36576"/>
          </a:xfrm>
          <a:prstGeom prst="rect">
            <a:avLst/>
          </a:prstGeom>
          <a:solidFill>
            <a:srgbClr val="F79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852928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Working application — deployed on Railway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Tiankii integration — QR Lightning payment LIVE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Drugstore comodato — supply agreement in progress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 Salvador Bitcoin law — market is READY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4736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Cubo+ Graduation Project  ·  El Salvador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BitFarma — Cubo+ Graduation Project</dc:title>
  <dc:subject>PptxGenJS Presentation</dc:subject>
  <dc:creator>Cubo+ Graduate</dc:creator>
  <cp:lastModifiedBy>Cubo+ Graduate</cp:lastModifiedBy>
  <cp:revision>1</cp:revision>
  <dcterms:created xsi:type="dcterms:W3CDTF">2026-04-25T02:14:15Z</dcterms:created>
  <dcterms:modified xsi:type="dcterms:W3CDTF">2026-04-25T02:14:15Z</dcterms:modified>
</cp:coreProperties>
</file>
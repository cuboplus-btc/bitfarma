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640080"/>
            <a:ext cx="3474720" cy="3474720"/>
          </a:xfrm>
          <a:prstGeom prst="ellipse">
            <a:avLst/>
          </a:prstGeom>
          <a:solidFill>
            <a:srgbClr val="1A2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822960" y="3108960"/>
            <a:ext cx="2560320" cy="2560320"/>
          </a:xfrm>
          <a:prstGeom prst="ellipse">
            <a:avLst/>
          </a:prstGeom>
          <a:solidFill>
            <a:srgbClr val="1A2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CUBO+ GRADUATION PROJECT  ·  UPDATED v2.0</a:t>
            </a:r>
            <a:endParaRPr lang="en-US" sz="900" dirty="0"/>
          </a:p>
        </p:txBody>
      </p:sp>
      <p:pic>
        <p:nvPicPr>
          <p:cNvPr id="7" name="Image 0" descr="/mnt/user-data/uploads/10002208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4572000" cy="10789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71907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Pharmacy Platform for the Bitcoin Economy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176272"/>
            <a:ext cx="457200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2286000"/>
            <a:ext cx="4572000" cy="347472"/>
          </a:xfrm>
          <a:prstGeom prst="rect">
            <a:avLst/>
          </a:prstGeom>
          <a:solidFill>
            <a:srgbClr val="2A9D3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7200" y="22860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Tiankii Lightning Payment — LIVE &amp; Confirmed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798064"/>
            <a:ext cx="1298448" cy="1188720"/>
          </a:xfrm>
          <a:prstGeom prst="rect">
            <a:avLst/>
          </a:prstGeom>
          <a:solidFill>
            <a:srgbClr val="1A2F5E"/>
          </a:solidFill>
          <a:ln w="12700">
            <a:solidFill>
              <a:srgbClr val="2A9D3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57200" y="2871216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9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LIVE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7200" y="3337560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on Railway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874520" y="2798064"/>
            <a:ext cx="1298448" cy="1188720"/>
          </a:xfrm>
          <a:prstGeom prst="rect">
            <a:avLst/>
          </a:prstGeom>
          <a:solidFill>
            <a:srgbClr val="1A2F5E"/>
          </a:solidFill>
          <a:ln w="12700">
            <a:solidFill>
              <a:srgbClr val="2A9D3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874520" y="2871216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9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LIVE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874520" y="3337560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 Payment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291840" y="2798064"/>
            <a:ext cx="1298448" cy="1188720"/>
          </a:xfrm>
          <a:prstGeom prst="rect">
            <a:avLst/>
          </a:prstGeom>
          <a:solidFill>
            <a:srgbClr val="1A2F5E"/>
          </a:solidFill>
          <a:ln w="12700">
            <a:solidFill>
              <a:srgbClr val="E8772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291840" y="2871216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NEW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291840" y="3337560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Products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709160" y="2798064"/>
            <a:ext cx="1298448" cy="1188720"/>
          </a:xfrm>
          <a:prstGeom prst="rect">
            <a:avLst/>
          </a:prstGeom>
          <a:solidFill>
            <a:srgbClr val="1A2F5E"/>
          </a:solidFill>
          <a:ln w="12700">
            <a:solidFill>
              <a:srgbClr val="E8772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709160" y="2871216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NEW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709160" y="3337560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Network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0" y="4846320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El Salvador  · 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731520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57607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topics covered today — 15 minutes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795528"/>
            <a:ext cx="914400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932688"/>
            <a:ext cx="4261104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932688"/>
            <a:ext cx="64008" cy="749808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98755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96112" y="987552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96112" y="1261872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gap in El Salvador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18304" y="932688"/>
            <a:ext cx="4261104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18304" y="932688"/>
            <a:ext cx="64008" cy="749808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9744" y="98755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58384" y="987552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58384" y="1261872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BitFarma — Bitcoin-only digital pharmacy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1755648"/>
            <a:ext cx="4261104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1755648"/>
            <a:ext cx="64008" cy="749808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181051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112" y="1810512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96112" y="2084832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roles · complete digital workflow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18304" y="1755648"/>
            <a:ext cx="4261104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18304" y="1755648"/>
            <a:ext cx="64008" cy="749808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9744" y="181051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58384" y="1810512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58384" y="2084832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AI · Railway · Clone &amp; Adapt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6032" y="2578608"/>
            <a:ext cx="4261104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2A9D3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6032" y="2578608"/>
            <a:ext cx="64008" cy="749808"/>
          </a:xfrm>
          <a:prstGeom prst="rect">
            <a:avLst/>
          </a:prstGeom>
          <a:solidFill>
            <a:srgbClr val="2A9D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67328" y="2633472"/>
            <a:ext cx="658368" cy="182880"/>
          </a:xfrm>
          <a:prstGeom prst="rect">
            <a:avLst/>
          </a:prstGeom>
          <a:solidFill>
            <a:srgbClr val="2A9D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67328" y="2633472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347472" y="263347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96112" y="2633472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 Reached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96112" y="2907792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Tiankii LIVE · App in production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18304" y="2578608"/>
            <a:ext cx="4261104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2A9D3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18304" y="2578608"/>
            <a:ext cx="64008" cy="749808"/>
          </a:xfrm>
          <a:prstGeom prst="rect">
            <a:avLst/>
          </a:prstGeom>
          <a:solidFill>
            <a:srgbClr val="2A9D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0" y="2633472"/>
            <a:ext cx="658368" cy="182880"/>
          </a:xfrm>
          <a:prstGeom prst="rect">
            <a:avLst/>
          </a:prstGeom>
          <a:solidFill>
            <a:srgbClr val="2A9D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0" y="2633472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4809744" y="263347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358384" y="2633472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Payments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58384" y="2907792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Tiankii QR · Lightning Network status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56032" y="3401568"/>
            <a:ext cx="4261104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2A9D3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56032" y="3401568"/>
            <a:ext cx="64008" cy="749808"/>
          </a:xfrm>
          <a:prstGeom prst="rect">
            <a:avLst/>
          </a:prstGeom>
          <a:solidFill>
            <a:srgbClr val="2A9D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67328" y="3456432"/>
            <a:ext cx="658368" cy="182880"/>
          </a:xfrm>
          <a:prstGeom prst="rect">
            <a:avLst/>
          </a:prstGeom>
          <a:solidFill>
            <a:srgbClr val="2A9D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67328" y="3456432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347472" y="345643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96112" y="3456432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Sovereignty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96112" y="3730752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meds + Natural products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718304" y="3401568"/>
            <a:ext cx="4261104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18304" y="3401568"/>
            <a:ext cx="64008" cy="749808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9744" y="345643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358384" y="3456432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358384" y="3730752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 · projections · Bitcoin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56032" y="4224528"/>
            <a:ext cx="4261104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2A9D3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256032" y="4224528"/>
            <a:ext cx="64008" cy="749808"/>
          </a:xfrm>
          <a:prstGeom prst="rect">
            <a:avLst/>
          </a:prstGeom>
          <a:solidFill>
            <a:srgbClr val="2A9D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767328" y="4279392"/>
            <a:ext cx="658368" cy="182880"/>
          </a:xfrm>
          <a:prstGeom prst="rect">
            <a:avLst/>
          </a:prstGeom>
          <a:solidFill>
            <a:srgbClr val="2A9D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767328" y="4279392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347472" y="42793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96112" y="4279392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896112" y="4553712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Drugstores + Naturals · Comodato · Delivery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718304" y="4224528"/>
            <a:ext cx="4261104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718304" y="4224528"/>
            <a:ext cx="64008" cy="749808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09744" y="42793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5358384" y="4279392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358384" y="4553712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roadmap to commercial launch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0" y="4956048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BitFarma  ·  Cubo+ Graduation Project  ·  El Salvador 2026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731520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57607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El Salvador needs BitFarma right now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795528"/>
            <a:ext cx="914400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987552"/>
            <a:ext cx="2788920" cy="1691640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" y="1005840"/>
            <a:ext cx="2788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256032" y="1755648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with Bitcoin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Legal Tender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" y="2249424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Law 2021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0" y="987552"/>
            <a:ext cx="2788920" cy="1691640"/>
          </a:xfrm>
          <a:prstGeom prst="rect">
            <a:avLst/>
          </a:prstGeom>
          <a:solidFill>
            <a:srgbClr val="CC2233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1005840"/>
            <a:ext cx="2788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3200400" y="1755648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Bitcoin-only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2249424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all of El Salvador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44768" y="987552"/>
            <a:ext cx="2788920" cy="1691640"/>
          </a:xfrm>
          <a:prstGeom prst="rect">
            <a:avLst/>
          </a:prstGeom>
          <a:solidFill>
            <a:srgbClr val="CC2233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44768" y="1005840"/>
            <a:ext cx="2788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6144768" y="1755648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prescription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44768" y="2249424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 patients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0040" y="27432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Pain Points Identified: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172968"/>
            <a:ext cx="109728" cy="109728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09067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Bitcoin-native pharmacy exists in El Salvador despite legal framework supporting it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3172968"/>
            <a:ext cx="109728" cy="109728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09067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management is fully analog — paper, manual processes, no patient visibility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611880"/>
            <a:ext cx="109728" cy="109728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529584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inventory managed with no real-time stock alerts or digital controls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3611880"/>
            <a:ext cx="109728" cy="109728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529584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delivery of medications not integrated with any prescription management system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050792"/>
            <a:ext cx="109728" cy="109728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96849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adoption in essential-goods sectors (healthcare) remains completely untapped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4050792"/>
            <a:ext cx="109728" cy="109728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96849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to natural health products under a unified digital sovereign ecosystem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0" y="4956048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BitFarma  ·  Cubo+ Graduation Project  ·  El Salvador 2026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731520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57607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BitFarma — El Salvador's first AI-powered, Bitcoin-only pharmacy platform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795528"/>
            <a:ext cx="914400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0" descr="/mnt/user-data/uploads/10002208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914400"/>
            <a:ext cx="2834640" cy="658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169164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Salvador's first AI-powered, Bitcoin-only pharmacy platform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" y="2176272"/>
            <a:ext cx="4114800" cy="2560320"/>
          </a:xfrm>
          <a:prstGeom prst="rect">
            <a:avLst/>
          </a:prstGeom>
          <a:solidFill>
            <a:srgbClr val="1A2F5E"/>
          </a:solidFill>
          <a:ln w="19050">
            <a:solidFill>
              <a:srgbClr val="1E6DB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" y="2176272"/>
            <a:ext cx="4114800" cy="365760"/>
          </a:xfrm>
          <a:prstGeom prst="rect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21762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VALIDATION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26151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Proof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2999232"/>
            <a:ext cx="3840480" cy="1591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pharmacy management app modeled on ISSS Social Security pharmacy workflow. 3-role system: Admin, Pharmacist, Patient. Deployed on Railway. ✅ COMPLETE.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880" y="2176272"/>
            <a:ext cx="4114800" cy="2560320"/>
          </a:xfrm>
          <a:prstGeom prst="rect">
            <a:avLst/>
          </a:prstGeom>
          <a:solidFill>
            <a:srgbClr val="1A2F5E"/>
          </a:solidFill>
          <a:ln w="19050">
            <a:solidFill>
              <a:srgbClr val="E8772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54880" y="2176272"/>
            <a:ext cx="4114800" cy="365760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54880" y="21762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COMMERCIAL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892040" y="26151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BitFarma Private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892040" y="2999232"/>
            <a:ext cx="3840480" cy="1591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cloned and adapted for private pharmacy. Bitcoin-only payments via Tiankii QR Lightning. Live application accessible from any device. ✅ PAYMENTS LIVE.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0040" y="4681728"/>
            <a:ext cx="8503920" cy="320040"/>
          </a:xfrm>
          <a:prstGeom prst="rect">
            <a:avLst/>
          </a:prstGeom>
          <a:solidFill>
            <a:srgbClr val="080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0040" y="468172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Traditional Medications   +   🌿 Natural Health Products   +   ⚡ Bitcoin Payments   +   🚚 Home Delivery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731520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3 USER ROLES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57607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complete digital workflow from prescription to delivery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795528"/>
            <a:ext cx="914400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987552"/>
            <a:ext cx="2788920" cy="3886200"/>
          </a:xfrm>
          <a:prstGeom prst="rect">
            <a:avLst/>
          </a:prstGeom>
          <a:solidFill>
            <a:srgbClr val="1A2F5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987552"/>
            <a:ext cx="2788920" cy="786384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024128"/>
            <a:ext cx="566928" cy="5669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56032" y="1609344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38912" y="2121408"/>
            <a:ext cx="91440" cy="9144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504" y="1975104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inventory control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8912" y="2670048"/>
            <a:ext cx="91440" cy="9144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3504" y="2523744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alerts &amp; tracking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38912" y="3218688"/>
            <a:ext cx="91440" cy="9144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" y="3072384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38912" y="3767328"/>
            <a:ext cx="91440" cy="9144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3504" y="3621024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reports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38912" y="4315968"/>
            <a:ext cx="91440" cy="9144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3504" y="4169664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reporting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200400" y="987552"/>
            <a:ext cx="2788920" cy="3886200"/>
          </a:xfrm>
          <a:prstGeom prst="rect">
            <a:avLst/>
          </a:prstGeom>
          <a:solidFill>
            <a:srgbClr val="1A2F5E"/>
          </a:solidFill>
          <a:ln w="12700">
            <a:solidFill>
              <a:srgbClr val="1E6DB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200400" y="987552"/>
            <a:ext cx="2788920" cy="786384"/>
          </a:xfrm>
          <a:prstGeom prst="rect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1024128"/>
            <a:ext cx="566928" cy="56692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200400" y="1609344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3383280" y="2121408"/>
            <a:ext cx="91440" cy="91440"/>
          </a:xfrm>
          <a:prstGeom prst="ellipse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547872" y="1975104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uploaded prescriptions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3383280" y="2670048"/>
            <a:ext cx="91440" cy="91440"/>
          </a:xfrm>
          <a:prstGeom prst="ellipse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547872" y="2523744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Dispense from inventory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3383280" y="3218688"/>
            <a:ext cx="91440" cy="91440"/>
          </a:xfrm>
          <a:prstGeom prst="ellipse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547872" y="3072384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PDF labels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3383280" y="3767328"/>
            <a:ext cx="91440" cy="91440"/>
          </a:xfrm>
          <a:prstGeom prst="ellipse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547872" y="3621024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workflow states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3383280" y="4315968"/>
            <a:ext cx="91440" cy="91440"/>
          </a:xfrm>
          <a:prstGeom prst="ellipse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547872" y="4169664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delivery address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6144768" y="987552"/>
            <a:ext cx="2788920" cy="3886200"/>
          </a:xfrm>
          <a:prstGeom prst="rect">
            <a:avLst/>
          </a:prstGeom>
          <a:solidFill>
            <a:srgbClr val="1A2F5E"/>
          </a:solidFill>
          <a:ln w="12700">
            <a:solidFill>
              <a:srgbClr val="E8772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6144768" y="987552"/>
            <a:ext cx="2788920" cy="786384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336" y="1024128"/>
            <a:ext cx="566928" cy="566928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144768" y="1609344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6327648" y="2121408"/>
            <a:ext cx="91440" cy="9144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492240" y="1975104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prescription (PDF/JPG)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6327648" y="2670048"/>
            <a:ext cx="91440" cy="9144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6492240" y="2523744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special instructions</a:t>
            </a:r>
            <a:endParaRPr lang="en-US" sz="1050" dirty="0"/>
          </a:p>
        </p:txBody>
      </p:sp>
      <p:sp>
        <p:nvSpPr>
          <p:cNvPr id="44" name="Shape 39"/>
          <p:cNvSpPr/>
          <p:nvPr/>
        </p:nvSpPr>
        <p:spPr>
          <a:xfrm>
            <a:off x="6327648" y="3218688"/>
            <a:ext cx="91440" cy="9144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6492240" y="3072384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delivery address</a:t>
            </a:r>
            <a:endParaRPr lang="en-US" sz="1050" dirty="0"/>
          </a:p>
        </p:txBody>
      </p:sp>
      <p:sp>
        <p:nvSpPr>
          <p:cNvPr id="46" name="Shape 41"/>
          <p:cNvSpPr/>
          <p:nvPr/>
        </p:nvSpPr>
        <p:spPr>
          <a:xfrm>
            <a:off x="6327648" y="3767328"/>
            <a:ext cx="91440" cy="9144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6492240" y="3621024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order in real-time</a:t>
            </a:r>
            <a:endParaRPr lang="en-US" sz="1050" dirty="0"/>
          </a:p>
        </p:txBody>
      </p:sp>
      <p:sp>
        <p:nvSpPr>
          <p:cNvPr id="48" name="Shape 43"/>
          <p:cNvSpPr/>
          <p:nvPr/>
        </p:nvSpPr>
        <p:spPr>
          <a:xfrm>
            <a:off x="6327648" y="4315968"/>
            <a:ext cx="91440" cy="9144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6492240" y="4169664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with Bitcoin QR</a:t>
            </a:r>
            <a:endParaRPr lang="en-US" sz="1050" dirty="0"/>
          </a:p>
        </p:txBody>
      </p:sp>
      <p:sp>
        <p:nvSpPr>
          <p:cNvPr id="50" name="Shape 45"/>
          <p:cNvSpPr/>
          <p:nvPr/>
        </p:nvSpPr>
        <p:spPr>
          <a:xfrm>
            <a:off x="256032" y="4709160"/>
            <a:ext cx="1554480" cy="256032"/>
          </a:xfrm>
          <a:prstGeom prst="rect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256032" y="47091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Received</a:t>
            </a:r>
            <a:endParaRPr lang="en-US" sz="850" dirty="0"/>
          </a:p>
        </p:txBody>
      </p:sp>
      <p:sp>
        <p:nvSpPr>
          <p:cNvPr id="52" name="Text 47"/>
          <p:cNvSpPr/>
          <p:nvPr/>
        </p:nvSpPr>
        <p:spPr>
          <a:xfrm>
            <a:off x="1810512" y="470916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3" name="Shape 48"/>
          <p:cNvSpPr/>
          <p:nvPr/>
        </p:nvSpPr>
        <p:spPr>
          <a:xfrm>
            <a:off x="1993392" y="4709160"/>
            <a:ext cx="1554480" cy="256032"/>
          </a:xfrm>
          <a:prstGeom prst="rect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1993392" y="47091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⚗️ In Preparation</a:t>
            </a:r>
            <a:endParaRPr lang="en-US" sz="850" dirty="0"/>
          </a:p>
        </p:txBody>
      </p:sp>
      <p:sp>
        <p:nvSpPr>
          <p:cNvPr id="55" name="Text 50"/>
          <p:cNvSpPr/>
          <p:nvPr/>
        </p:nvSpPr>
        <p:spPr>
          <a:xfrm>
            <a:off x="3547872" y="470916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6" name="Shape 51"/>
          <p:cNvSpPr/>
          <p:nvPr/>
        </p:nvSpPr>
        <p:spPr>
          <a:xfrm>
            <a:off x="3730752" y="4709160"/>
            <a:ext cx="1554480" cy="256032"/>
          </a:xfrm>
          <a:prstGeom prst="rect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3730752" y="47091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Ready</a:t>
            </a:r>
            <a:endParaRPr lang="en-US" sz="850" dirty="0"/>
          </a:p>
        </p:txBody>
      </p:sp>
      <p:sp>
        <p:nvSpPr>
          <p:cNvPr id="58" name="Text 53"/>
          <p:cNvSpPr/>
          <p:nvPr/>
        </p:nvSpPr>
        <p:spPr>
          <a:xfrm>
            <a:off x="5285232" y="470916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9" name="Shape 54"/>
          <p:cNvSpPr/>
          <p:nvPr/>
        </p:nvSpPr>
        <p:spPr>
          <a:xfrm>
            <a:off x="5468112" y="4709160"/>
            <a:ext cx="1554480" cy="256032"/>
          </a:xfrm>
          <a:prstGeom prst="rect">
            <a:avLst/>
          </a:prstGeom>
          <a:solidFill>
            <a:srgbClr val="2A9D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5468112" y="47091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Paid</a:t>
            </a:r>
            <a:endParaRPr lang="en-US" sz="850" dirty="0"/>
          </a:p>
        </p:txBody>
      </p:sp>
      <p:sp>
        <p:nvSpPr>
          <p:cNvPr id="61" name="Text 56"/>
          <p:cNvSpPr/>
          <p:nvPr/>
        </p:nvSpPr>
        <p:spPr>
          <a:xfrm>
            <a:off x="7022592" y="470916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62" name="Shape 57"/>
          <p:cNvSpPr/>
          <p:nvPr/>
        </p:nvSpPr>
        <p:spPr>
          <a:xfrm>
            <a:off x="7205472" y="4709160"/>
            <a:ext cx="1554480" cy="256032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7205472" y="47091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Delivered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731520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57607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AI · Deployed on the cloud · Designed to scale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795528"/>
            <a:ext cx="914400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987552"/>
            <a:ext cx="278892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987552"/>
            <a:ext cx="2788920" cy="54864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16152" y="1097280"/>
            <a:ext cx="868680" cy="86868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1188720"/>
            <a:ext cx="594360" cy="5943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56032" y="2048256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56032" y="2414016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Development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20624" y="2743200"/>
            <a:ext cx="245059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application designed and built using OpenClaw, an AI-powered development environment. A single developer can architect and build complex multi-role production systems at startup speed.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200400" y="987552"/>
            <a:ext cx="278892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0" y="987552"/>
            <a:ext cx="2788920" cy="54864"/>
          </a:xfrm>
          <a:prstGeom prst="rect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160520" y="1097280"/>
            <a:ext cx="868680" cy="868680"/>
          </a:xfrm>
          <a:prstGeom prst="ellipse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188720"/>
            <a:ext cx="594360" cy="5943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200400" y="2048256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3200400" y="2414016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364992" y="2743200"/>
            <a:ext cx="245059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via Railway PaaS. Auto-deploy from GitHub, persistent database, SSL, and custom domain. The app is live — not just a prototype — accessible from any device worldwide.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144768" y="987552"/>
            <a:ext cx="278892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44768" y="987552"/>
            <a:ext cx="278892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104888" y="1097280"/>
            <a:ext cx="868680" cy="86868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48" y="1188720"/>
            <a:ext cx="594360" cy="5943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144768" y="2048256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&amp; Adapt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6144768" y="2414016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6309360" y="2743200"/>
            <a:ext cx="245059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ISSS codebase was cloned and adapted for BitFarma in minimal time. New pharmacies can be onboarded by replicating the architecture with low overhead — the foundation for the SaaS licensing model.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256032" y="4663440"/>
            <a:ext cx="8631936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47472" y="4663440"/>
            <a:ext cx="8449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AI-assisted development is not just a tool — it is a paradigm shift for solo founders and lean startups.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0" y="4956048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BitFarma  ·  Cubo+ Graduation Project  ·  El Salvador 2026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731520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 REACHED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57607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prototype to production — current project status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795528"/>
            <a:ext cx="914400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960120"/>
            <a:ext cx="4937760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2A9D3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960120"/>
            <a:ext cx="64008" cy="859536"/>
          </a:xfrm>
          <a:prstGeom prst="rect">
            <a:avLst/>
          </a:prstGeom>
          <a:solidFill>
            <a:srgbClr val="2A9D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161288"/>
            <a:ext cx="457200" cy="457200"/>
          </a:xfrm>
          <a:prstGeom prst="ellipse">
            <a:avLst/>
          </a:prstGeom>
          <a:solidFill>
            <a:srgbClr val="2A9D3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197864"/>
            <a:ext cx="347472" cy="347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69264" y="1014984"/>
            <a:ext cx="4096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Deployed on Railway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69264" y="1289304"/>
            <a:ext cx="4096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BitFarma is live, accessible from any device worldwide. This is not a prototype — it is a fully functional system running in production on Railway cloud infrastructure.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56032" y="1929384"/>
            <a:ext cx="4937760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2A9D3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56032" y="1929384"/>
            <a:ext cx="64008" cy="859536"/>
          </a:xfrm>
          <a:prstGeom prst="rect">
            <a:avLst/>
          </a:prstGeom>
          <a:solidFill>
            <a:srgbClr val="2A9D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4048" y="2130552"/>
            <a:ext cx="457200" cy="457200"/>
          </a:xfrm>
          <a:prstGeom prst="ellipse">
            <a:avLst/>
          </a:prstGeom>
          <a:solidFill>
            <a:srgbClr val="2A9D3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167128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69264" y="1984248"/>
            <a:ext cx="4096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Tiankii Lightning Integration LIVE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969264" y="2258568"/>
            <a:ext cx="4096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Lightning QR code is automatically generated when the pharmacist marks an order as 'Ready'. Full Tiankii API integration is operational and tested in the live environment.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256032" y="2898648"/>
            <a:ext cx="4937760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2A9D3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56032" y="2898648"/>
            <a:ext cx="64008" cy="859536"/>
          </a:xfrm>
          <a:prstGeom prst="rect">
            <a:avLst/>
          </a:prstGeom>
          <a:solidFill>
            <a:srgbClr val="2A9D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84048" y="3099816"/>
            <a:ext cx="457200" cy="457200"/>
          </a:xfrm>
          <a:prstGeom prst="ellipse">
            <a:avLst/>
          </a:prstGeom>
          <a:solidFill>
            <a:srgbClr val="2A9D3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136392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69264" y="2953512"/>
            <a:ext cx="4096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Confirmation — Webhook Received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969264" y="3227832"/>
            <a:ext cx="4096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Tiankii webhook fires correctly. BitFarma receives the InvoiceSettled event confirming Bitcoin payment. The payment pipeline from patient to merchant is fully functional end-to-end.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256032" y="3867912"/>
            <a:ext cx="4937760" cy="859536"/>
          </a:xfrm>
          <a:prstGeom prst="rect">
            <a:avLst/>
          </a:prstGeom>
          <a:solidFill>
            <a:srgbClr val="FFFFFF"/>
          </a:solidFill>
          <a:ln w="10160">
            <a:solidFill>
              <a:srgbClr val="2A9D3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256032" y="3867912"/>
            <a:ext cx="64008" cy="859536"/>
          </a:xfrm>
          <a:prstGeom prst="rect">
            <a:avLst/>
          </a:prstGeom>
          <a:solidFill>
            <a:srgbClr val="2A9D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84048" y="4069080"/>
            <a:ext cx="457200" cy="457200"/>
          </a:xfrm>
          <a:prstGeom prst="ellipse">
            <a:avLst/>
          </a:prstGeom>
          <a:solidFill>
            <a:srgbClr val="2A9D3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4105656"/>
            <a:ext cx="347472" cy="34747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69264" y="3922776"/>
            <a:ext cx="4096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Architecture Validated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969264" y="4197096"/>
            <a:ext cx="4096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3-role system (Admin, Pharmacist, Patient) tested. PDF label generation functional. Clone-and-adapt methodology validated — ready to onboard additional pharmacy licensees.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5394960" y="960120"/>
            <a:ext cx="3493008" cy="1938528"/>
          </a:xfrm>
          <a:prstGeom prst="rect">
            <a:avLst/>
          </a:prstGeom>
          <a:solidFill>
            <a:srgbClr val="0D1B3E"/>
          </a:solidFill>
          <a:ln w="1524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5394960" y="960120"/>
            <a:ext cx="3493008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5394960" y="960120"/>
            <a:ext cx="3493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IN PROGRESS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5541264" y="13898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Auto-Update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5541264" y="1700784"/>
            <a:ext cx="32004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Tiankii webhook confirms payment successfully. The next step is for the order to automatically advance to 'Delivered' status without any manual action from the pharmacist.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5394960" y="2999232"/>
            <a:ext cx="3493008" cy="1664208"/>
          </a:xfrm>
          <a:prstGeom prst="rect">
            <a:avLst/>
          </a:prstGeom>
          <a:solidFill>
            <a:srgbClr val="1A2F5E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5394960" y="309067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4800" dirty="0"/>
          </a:p>
        </p:txBody>
      </p:sp>
      <p:sp>
        <p:nvSpPr>
          <p:cNvPr id="39" name="Text 33"/>
          <p:cNvSpPr/>
          <p:nvPr/>
        </p:nvSpPr>
        <p:spPr>
          <a:xfrm>
            <a:off x="5394960" y="3767328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 Network</a:t>
            </a:r>
            <a:endParaRPr lang="en-US" sz="1400" dirty="0"/>
          </a:p>
        </p:txBody>
      </p:sp>
      <p:sp>
        <p:nvSpPr>
          <p:cNvPr id="40" name="Text 34"/>
          <p:cNvSpPr/>
          <p:nvPr/>
        </p:nvSpPr>
        <p:spPr>
          <a:xfrm>
            <a:off x="5394960" y="4059936"/>
            <a:ext cx="3493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payments LIVE</a:t>
            </a: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0" y="4956048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BitFarma  ·  Cubo+ Graduation Project  ·  El Salvador 2026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731520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PAYMENTS — TIANKII INTEGRATION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57607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generation ✅  ·  Payment confirmation ✅  ·  Workflow auto-update 🔄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795528"/>
            <a:ext cx="914400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960120"/>
            <a:ext cx="2057400" cy="2788920"/>
          </a:xfrm>
          <a:prstGeom prst="rect">
            <a:avLst/>
          </a:prstGeom>
          <a:solidFill>
            <a:srgbClr val="1A2F5E"/>
          </a:solidFill>
          <a:ln w="10160">
            <a:solidFill>
              <a:srgbClr val="E8772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77824" y="1051560"/>
            <a:ext cx="804672" cy="804672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105156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975104"/>
            <a:ext cx="594360" cy="5943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56032" y="267004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Ready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47472" y="2990088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 marks order as 'Ready' in BitFarma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313432" y="169164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450592" y="960120"/>
            <a:ext cx="2057400" cy="2788920"/>
          </a:xfrm>
          <a:prstGeom prst="rect">
            <a:avLst/>
          </a:prstGeom>
          <a:solidFill>
            <a:srgbClr val="1A2F5E"/>
          </a:solidFill>
          <a:ln w="10160">
            <a:solidFill>
              <a:srgbClr val="E8772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072384" y="1051560"/>
            <a:ext cx="804672" cy="804672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72384" y="105156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1975104"/>
            <a:ext cx="594360" cy="5943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450592" y="267004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Generated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2542032" y="2990088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Tiankii API generates BOLT11 invoice → QR displayed to patient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4507992" y="169164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4645152" y="960120"/>
            <a:ext cx="2057400" cy="2788920"/>
          </a:xfrm>
          <a:prstGeom prst="rect">
            <a:avLst/>
          </a:prstGeom>
          <a:solidFill>
            <a:srgbClr val="1A2F5E"/>
          </a:solidFill>
          <a:ln w="10160">
            <a:solidFill>
              <a:srgbClr val="E8772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266944" y="1051560"/>
            <a:ext cx="804672" cy="804672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266944" y="105156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2" y="1975104"/>
            <a:ext cx="594360" cy="5943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645152" y="267004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Scans &amp; Pays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4736592" y="2990088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Lightning wallet: Blink, Chivo, Phoenix, Blue Wallet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6702552" y="169164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6839712" y="960120"/>
            <a:ext cx="2057400" cy="2788920"/>
          </a:xfrm>
          <a:prstGeom prst="rect">
            <a:avLst/>
          </a:prstGeom>
          <a:solidFill>
            <a:srgbClr val="1A2F5E"/>
          </a:solidFill>
          <a:ln w="19050">
            <a:solidFill>
              <a:srgbClr val="2A9D3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461504" y="1051560"/>
            <a:ext cx="804672" cy="804672"/>
          </a:xfrm>
          <a:prstGeom prst="ellipse">
            <a:avLst/>
          </a:prstGeom>
          <a:solidFill>
            <a:srgbClr val="2A9D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461504" y="105156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232" y="1975104"/>
            <a:ext cx="594360" cy="59436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839712" y="267004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9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&amp; Dispatched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6931152" y="2990088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Tiankii webhook fires InvoiceSettled → BitFarma receives confirmation</a:t>
            </a:r>
            <a:endParaRPr lang="en-US" sz="850" dirty="0"/>
          </a:p>
        </p:txBody>
      </p:sp>
      <p:sp>
        <p:nvSpPr>
          <p:cNvPr id="35" name="Shape 29"/>
          <p:cNvSpPr/>
          <p:nvPr/>
        </p:nvSpPr>
        <p:spPr>
          <a:xfrm>
            <a:off x="256032" y="3657600"/>
            <a:ext cx="8631936" cy="1325880"/>
          </a:xfrm>
          <a:prstGeom prst="rect">
            <a:avLst/>
          </a:prstGeom>
          <a:solidFill>
            <a:srgbClr val="1A2F5E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438912" y="37307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Bitcoin Only?</a:t>
            </a:r>
            <a:endParaRPr lang="en-US" sz="1300" dirty="0"/>
          </a:p>
        </p:txBody>
      </p:sp>
      <p:sp>
        <p:nvSpPr>
          <p:cNvPr id="37" name="Shape 31"/>
          <p:cNvSpPr/>
          <p:nvPr/>
        </p:nvSpPr>
        <p:spPr>
          <a:xfrm>
            <a:off x="438912" y="4151376"/>
            <a:ext cx="91440" cy="9144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603504" y="4078224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differentiation in El Salvador's Bitcoin legal tender market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438912" y="4407408"/>
            <a:ext cx="91440" cy="9144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603504" y="4334256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 Network = near-zero fees, instant settlement, no chargebacks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438912" y="4663440"/>
            <a:ext cx="91440" cy="9144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603504" y="4590288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Mission-driven: making Bitcoin useful for daily healthcare transactions</a:t>
            </a:r>
            <a:endParaRPr lang="en-US" sz="1000" dirty="0"/>
          </a:p>
        </p:txBody>
      </p:sp>
      <p:sp>
        <p:nvSpPr>
          <p:cNvPr id="43" name="Text 37"/>
          <p:cNvSpPr/>
          <p:nvPr/>
        </p:nvSpPr>
        <p:spPr>
          <a:xfrm>
            <a:off x="0" y="4956048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BitFarma  ·  Cubo+ Graduation Project  ·  El Salvador 2026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731520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SOVEREIGNTY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57607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BitFarma serves two customer types — prescription medication &amp; natural wellness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795528"/>
            <a:ext cx="914400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960120"/>
            <a:ext cx="4160520" cy="3913632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960120"/>
            <a:ext cx="4160520" cy="384048"/>
          </a:xfrm>
          <a:prstGeom prst="rect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00584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99669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MEDICATIONS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47472" y="1426464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chronic patients seeking to digitize their pharmacy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755648"/>
            <a:ext cx="4160520" cy="8686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28600" y="1755648"/>
            <a:ext cx="4160520" cy="868680"/>
          </a:xfrm>
          <a:prstGeom prst="rect">
            <a:avLst/>
          </a:prstGeom>
          <a:solidFill>
            <a:srgbClr val="0D1B3E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84048" y="2834640"/>
            <a:ext cx="91440" cy="91440"/>
          </a:xfrm>
          <a:prstGeom prst="ellipse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48640" y="2743200"/>
            <a:ext cx="3730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· Hypertension · Thyroid · Cholesterol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84048" y="3218688"/>
            <a:ext cx="91440" cy="91440"/>
          </a:xfrm>
          <a:prstGeom prst="ellipse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48640" y="3127248"/>
            <a:ext cx="3730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recurring purchase — refill with 1 click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384048" y="3602736"/>
            <a:ext cx="91440" cy="91440"/>
          </a:xfrm>
          <a:prstGeom prst="ellipse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48640" y="3511296"/>
            <a:ext cx="3730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35–70 with smartphone access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84048" y="3986784"/>
            <a:ext cx="91440" cy="91440"/>
          </a:xfrm>
          <a:prstGeom prst="ellipse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48640" y="3895344"/>
            <a:ext cx="3730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Banked and unbanked patients (Bitcoin removes barriers)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84048" y="4370832"/>
            <a:ext cx="91440" cy="91440"/>
          </a:xfrm>
          <a:prstGeom prst="ellipse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48640" y="4279392"/>
            <a:ext cx="3730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members managing a patient's medications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4754880" y="960120"/>
            <a:ext cx="4160520" cy="3913632"/>
          </a:xfrm>
          <a:prstGeom prst="rect">
            <a:avLst/>
          </a:prstGeom>
          <a:solidFill>
            <a:srgbClr val="0A2010"/>
          </a:solidFill>
          <a:ln w="19050">
            <a:solidFill>
              <a:srgbClr val="2A9D3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754880" y="960120"/>
            <a:ext cx="4160520" cy="384048"/>
          </a:xfrm>
          <a:prstGeom prst="rect">
            <a:avLst/>
          </a:prstGeom>
          <a:solidFill>
            <a:srgbClr val="2A9D3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005840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230368" y="99669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HEALTH PRODUCTS</a:t>
            </a:r>
            <a:endParaRPr lang="en-US" sz="95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344168"/>
            <a:ext cx="4160520" cy="868680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4754880" y="1344168"/>
            <a:ext cx="4160520" cy="868680"/>
          </a:xfrm>
          <a:prstGeom prst="rect">
            <a:avLst/>
          </a:prstGeom>
          <a:solidFill>
            <a:srgbClr val="0A2010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828032" y="1426464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those who want to take control of their own health</a:t>
            </a:r>
            <a:endParaRPr lang="en-US" sz="9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368296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230368" y="234086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 supplements and vitamins</a:t>
            </a:r>
            <a:endParaRPr lang="en-US" sz="95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788920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230368" y="276148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and integrative medicine products</a:t>
            </a:r>
            <a:endParaRPr lang="en-US" sz="95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3209544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230368" y="318211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Nutraceuticals and superfoods</a:t>
            </a:r>
            <a:endParaRPr lang="en-US" sz="950" dirty="0"/>
          </a:p>
        </p:txBody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3630168"/>
            <a:ext cx="274320" cy="27432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5230368" y="360273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health and wellness products</a:t>
            </a:r>
            <a:endParaRPr lang="en-US" sz="950" dirty="0"/>
          </a:p>
        </p:txBody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4050792"/>
            <a:ext cx="274320" cy="27432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5230368" y="4023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paid in Bitcoin Lightning</a:t>
            </a:r>
            <a:endParaRPr lang="en-US" sz="950" dirty="0"/>
          </a:p>
        </p:txBody>
      </p:sp>
      <p:sp>
        <p:nvSpPr>
          <p:cNvPr id="42" name="Shape 31"/>
          <p:cNvSpPr/>
          <p:nvPr/>
        </p:nvSpPr>
        <p:spPr>
          <a:xfrm>
            <a:off x="228600" y="4663440"/>
            <a:ext cx="8686800" cy="310896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228600" y="4663440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product lines on one platform  ·  Bitcoin payments  ·  Home delivery  ·  Digital prescription</a:t>
            </a:r>
            <a:endParaRPr lang="en-US" sz="950" dirty="0"/>
          </a:p>
        </p:txBody>
      </p:sp>
      <p:sp>
        <p:nvSpPr>
          <p:cNvPr id="44" name="Text 33"/>
          <p:cNvSpPr/>
          <p:nvPr/>
        </p:nvSpPr>
        <p:spPr>
          <a:xfrm>
            <a:off x="0" y="4956048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BitFarma  ·  Cubo+ Graduation Project  ·  El Salvador 2026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731520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57607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revenue streams — medications + naturals + Bitcoin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795528"/>
            <a:ext cx="914400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960120"/>
            <a:ext cx="2057400" cy="1965960"/>
          </a:xfrm>
          <a:prstGeom prst="rect">
            <a:avLst/>
          </a:prstGeom>
          <a:solidFill>
            <a:srgbClr val="1A2F5E"/>
          </a:solidFill>
          <a:ln w="6350">
            <a:solidFill>
              <a:srgbClr val="E8772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960120"/>
            <a:ext cx="20574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078992"/>
            <a:ext cx="594360" cy="5943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56032" y="173736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Sales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65760" y="2029968"/>
            <a:ext cx="18470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25–35% margin over wholesale price. Monthly auto-refill for chronic patients drives recurring revenue.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450592" y="960120"/>
            <a:ext cx="2057400" cy="1965960"/>
          </a:xfrm>
          <a:prstGeom prst="rect">
            <a:avLst/>
          </a:prstGeom>
          <a:solidFill>
            <a:srgbClr val="1A2F5E"/>
          </a:solidFill>
          <a:ln w="6350">
            <a:solidFill>
              <a:srgbClr val="E8772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450592" y="960120"/>
            <a:ext cx="20574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1078992"/>
            <a:ext cx="594360" cy="5943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450592" y="173736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Products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560320" y="2029968"/>
            <a:ext cx="18470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 supplements &amp; nutraceuticals. Estimated 35–50% margin. Growing market, high loyalty segment.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645152" y="960120"/>
            <a:ext cx="2057400" cy="1965960"/>
          </a:xfrm>
          <a:prstGeom prst="rect">
            <a:avLst/>
          </a:prstGeom>
          <a:solidFill>
            <a:srgbClr val="1A2F5E"/>
          </a:solidFill>
          <a:ln w="6350">
            <a:solidFill>
              <a:srgbClr val="E8772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45152" y="960120"/>
            <a:ext cx="20574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2" y="1078992"/>
            <a:ext cx="594360" cy="5943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45152" y="173736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Fees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754880" y="2029968"/>
            <a:ext cx="18470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$2.50–$5.00 per order charged to customer. Managed via Pedidos Ya / Urban Express partnership.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6839712" y="960120"/>
            <a:ext cx="2057400" cy="1965960"/>
          </a:xfrm>
          <a:prstGeom prst="rect">
            <a:avLst/>
          </a:prstGeom>
          <a:solidFill>
            <a:srgbClr val="1A2F5E"/>
          </a:solidFill>
          <a:ln w="6350">
            <a:solidFill>
              <a:srgbClr val="E8772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839712" y="960120"/>
            <a:ext cx="20574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232" y="1078992"/>
            <a:ext cx="594360" cy="5943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39712" y="173736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Licensing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949440" y="2029968"/>
            <a:ext cx="18470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model: license BitFarma to independent pharmacies. $150–300/month per licensee client.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256032" y="3017520"/>
            <a:ext cx="2057400" cy="1298448"/>
          </a:xfrm>
          <a:prstGeom prst="rect">
            <a:avLst/>
          </a:prstGeom>
          <a:solidFill>
            <a:srgbClr val="080F24"/>
          </a:solidFill>
          <a:ln w="6350">
            <a:solidFill>
              <a:srgbClr val="1A2F5E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256032" y="306324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$251M</a:t>
            </a:r>
            <a:endParaRPr lang="en-US" sz="2200" dirty="0"/>
          </a:p>
        </p:txBody>
      </p:sp>
      <p:sp>
        <p:nvSpPr>
          <p:cNvPr id="30" name="Text 24"/>
          <p:cNvSpPr/>
          <p:nvPr/>
        </p:nvSpPr>
        <p:spPr>
          <a:xfrm>
            <a:off x="256032" y="3639312"/>
            <a:ext cx="2057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pharmacy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(Statista 2025)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2450592" y="3017520"/>
            <a:ext cx="2057400" cy="1298448"/>
          </a:xfrm>
          <a:prstGeom prst="rect">
            <a:avLst/>
          </a:prstGeom>
          <a:solidFill>
            <a:srgbClr val="080F24"/>
          </a:solidFill>
          <a:ln w="6350">
            <a:solidFill>
              <a:srgbClr val="1A2F5E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2450592" y="306324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~4,500</a:t>
            </a:r>
            <a:endParaRPr lang="en-US" sz="2200" dirty="0"/>
          </a:p>
        </p:txBody>
      </p:sp>
      <p:sp>
        <p:nvSpPr>
          <p:cNvPr id="33" name="Text 27"/>
          <p:cNvSpPr/>
          <p:nvPr/>
        </p:nvSpPr>
        <p:spPr>
          <a:xfrm>
            <a:off x="2450592" y="3639312"/>
            <a:ext cx="2057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active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— Year 1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4645152" y="3017520"/>
            <a:ext cx="2057400" cy="1298448"/>
          </a:xfrm>
          <a:prstGeom prst="rect">
            <a:avLst/>
          </a:prstGeom>
          <a:solidFill>
            <a:srgbClr val="080F24"/>
          </a:solidFill>
          <a:ln w="6350">
            <a:solidFill>
              <a:srgbClr val="1A2F5E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4645152" y="306324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$270K</a:t>
            </a:r>
            <a:endParaRPr lang="en-US" sz="2200" dirty="0"/>
          </a:p>
        </p:txBody>
      </p:sp>
      <p:sp>
        <p:nvSpPr>
          <p:cNvPr id="36" name="Text 30"/>
          <p:cNvSpPr/>
          <p:nvPr/>
        </p:nvSpPr>
        <p:spPr>
          <a:xfrm>
            <a:off x="4645152" y="3639312"/>
            <a:ext cx="2057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gross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— Year 1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6839712" y="3017520"/>
            <a:ext cx="2057400" cy="1298448"/>
          </a:xfrm>
          <a:prstGeom prst="rect">
            <a:avLst/>
          </a:prstGeom>
          <a:solidFill>
            <a:srgbClr val="080F24"/>
          </a:solidFill>
          <a:ln w="19050">
            <a:solidFill>
              <a:srgbClr val="2A9D3A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6839712" y="306324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9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200" dirty="0"/>
          </a:p>
        </p:txBody>
      </p:sp>
      <p:sp>
        <p:nvSpPr>
          <p:cNvPr id="39" name="Text 33"/>
          <p:cNvSpPr/>
          <p:nvPr/>
        </p:nvSpPr>
        <p:spPr>
          <a:xfrm>
            <a:off x="6839712" y="3639312"/>
            <a:ext cx="2057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 inventory cost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(comodato model)</a:t>
            </a:r>
            <a:endParaRPr lang="en-US" sz="850" dirty="0"/>
          </a:p>
        </p:txBody>
      </p:sp>
      <p:sp>
        <p:nvSpPr>
          <p:cNvPr id="40" name="Shape 34"/>
          <p:cNvSpPr/>
          <p:nvPr/>
        </p:nvSpPr>
        <p:spPr>
          <a:xfrm>
            <a:off x="256032" y="4425696"/>
            <a:ext cx="8631936" cy="475488"/>
          </a:xfrm>
          <a:prstGeom prst="rect">
            <a:avLst/>
          </a:prstGeom>
          <a:solidFill>
            <a:srgbClr val="1A2F5E"/>
          </a:solidFill>
          <a:ln w="6350">
            <a:solidFill>
              <a:srgbClr val="E87722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365760" y="442569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Bitcoin Lightning: 0% processing fee vs 2–4% card fees = $5,400–$10,800 in additional margin at $270K annual revenue</a:t>
            </a:r>
            <a:endParaRPr lang="en-US" sz="950" dirty="0"/>
          </a:p>
        </p:txBody>
      </p:sp>
      <p:sp>
        <p:nvSpPr>
          <p:cNvPr id="42" name="Text 36"/>
          <p:cNvSpPr/>
          <p:nvPr/>
        </p:nvSpPr>
        <p:spPr>
          <a:xfrm>
            <a:off x="0" y="4956048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BitFarma  ·  Cubo+ Graduation Project  ·  El Salvador 2026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731520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&amp; PARTNERSHIPS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57607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Drugstores · Natural Providers · Delivery · Comodato Agreement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795528"/>
            <a:ext cx="914400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93268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PHARMACEUTICAL SUPPLIERS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" y="1261872"/>
            <a:ext cx="416052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261872"/>
            <a:ext cx="64008" cy="768096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1335024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Droguería Americana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2336" y="1591056"/>
            <a:ext cx="3913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Salvador · ventas@americana.com.sv · Ranked #1 IMS Health · Pfizer, Merck, Novartis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6032" y="2121408"/>
            <a:ext cx="416052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121408"/>
            <a:ext cx="64008" cy="768096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2194560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Droguería Santa Lucía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2336" y="2450592"/>
            <a:ext cx="3913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Colonia Roma No.238, S.S. · (503) 2250-6200 · 1,500+ distribution points · Hospitals &amp; pharmacies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6032" y="2980944"/>
            <a:ext cx="416052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980944"/>
            <a:ext cx="64008" cy="768096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3054096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Droguería Integral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02336" y="3310128"/>
            <a:ext cx="3913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Urb. San Francisco, Calle Los Abetos · drogueriaintegral.com.sv · Decades of track record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36592" y="93268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2A9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NATURAL PRODUCTS + 🚚 DELIVERY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36592" y="1261872"/>
            <a:ext cx="4160520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2A9D3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36592" y="1261872"/>
            <a:ext cx="64008" cy="768096"/>
          </a:xfrm>
          <a:prstGeom prst="rect">
            <a:avLst/>
          </a:prstGeom>
          <a:solidFill>
            <a:srgbClr val="2A9D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82896" y="1335024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Products Distributors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82896" y="1591056"/>
            <a:ext cx="3913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 supplements · vitamins · nutraceuticals · organic certified wellness products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36592" y="2121408"/>
            <a:ext cx="4160520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E8772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36592" y="2121408"/>
            <a:ext cx="64008" cy="768096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82896" y="2194560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Ya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82896" y="2450592"/>
            <a:ext cx="3913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Salvador's largest delivery platform. Home delivery with real-time tracking. Partnership target.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36592" y="2980944"/>
            <a:ext cx="4160520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1E6DB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36592" y="2980944"/>
            <a:ext cx="64008" cy="768096"/>
          </a:xfrm>
          <a:prstGeom prst="rect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82896" y="3054096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Express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82896" y="3310128"/>
            <a:ext cx="3913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courier service in San Salvador. Same-day urgent deliveries — ideal for medications.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56032" y="3895344"/>
            <a:ext cx="8631936" cy="969264"/>
          </a:xfrm>
          <a:prstGeom prst="rect">
            <a:avLst/>
          </a:prstGeom>
          <a:solidFill>
            <a:srgbClr val="0D1B3E"/>
          </a:solidFill>
          <a:ln w="15240">
            <a:solidFill>
              <a:srgbClr val="E8772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4041648"/>
            <a:ext cx="548640" cy="54864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060704" y="3968496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COMODATO AGREEMENT — Capital-efficient supply model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1060704" y="4297680"/>
            <a:ext cx="731520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60704" y="437083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Zero upfront inventory investment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4809744" y="437083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BitFarma pays only what it sells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1060704" y="462686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Unsold stock returned — zero risk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4809744" y="462686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Scalable as order volume grows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0" y="4956048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BitFarma  ·  Cubo+ Graduation Project  ·  El Salvador 2026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731520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— ROADMAP TO LAUNCH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57607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milestones toward commercial launch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795528"/>
            <a:ext cx="914400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960120"/>
            <a:ext cx="8631936" cy="603504"/>
          </a:xfrm>
          <a:prstGeom prst="rect">
            <a:avLst/>
          </a:prstGeom>
          <a:solidFill>
            <a:srgbClr val="1A2F5E"/>
          </a:solidFill>
          <a:ln w="5080">
            <a:solidFill>
              <a:srgbClr val="2A4A8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0896" y="1051560"/>
            <a:ext cx="420624" cy="420624"/>
          </a:xfrm>
          <a:prstGeom prst="ellipse">
            <a:avLst/>
          </a:prstGeom>
          <a:solidFill>
            <a:srgbClr val="2A9D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" y="10515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59536" y="1088136"/>
            <a:ext cx="1051560" cy="219456"/>
          </a:xfrm>
          <a:prstGeom prst="rect">
            <a:avLst/>
          </a:prstGeom>
          <a:solidFill>
            <a:srgbClr val="2A9D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1088136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029968" y="10149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Tiankii Lightning QR Payment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29968" y="1289304"/>
            <a:ext cx="6748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integration complete. QR auto-generated. InvoiceSettled webhook confirmed. Bitcoin QR payment LIVE.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6032" y="1636776"/>
            <a:ext cx="8631936" cy="603504"/>
          </a:xfrm>
          <a:prstGeom prst="rect">
            <a:avLst/>
          </a:prstGeom>
          <a:solidFill>
            <a:srgbClr val="1A2F5E"/>
          </a:solidFill>
          <a:ln w="5080">
            <a:solidFill>
              <a:srgbClr val="2A4A8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0896" y="1728216"/>
            <a:ext cx="420624" cy="42062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" y="172821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59536" y="1764792"/>
            <a:ext cx="1051560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1764792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029968" y="16916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Auto-Update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029968" y="1965960"/>
            <a:ext cx="6748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payment confirmed → order automatically advances to 'Delivered'. No manual pharmacist action required.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032" y="2313432"/>
            <a:ext cx="8631936" cy="603504"/>
          </a:xfrm>
          <a:prstGeom prst="rect">
            <a:avLst/>
          </a:prstGeom>
          <a:solidFill>
            <a:srgbClr val="1A2F5E"/>
          </a:solidFill>
          <a:ln w="5080">
            <a:solidFill>
              <a:srgbClr val="2A4A8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0896" y="2404872"/>
            <a:ext cx="420624" cy="42062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" y="24048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59536" y="2441448"/>
            <a:ext cx="1051560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2441448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029968" y="23682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Drugstore Comodato Agreement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029968" y="2642616"/>
            <a:ext cx="6748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negotiations with Droguería Americana and Santa Lucía. Initial medication catalog being defined.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6032" y="2990088"/>
            <a:ext cx="8631936" cy="603504"/>
          </a:xfrm>
          <a:prstGeom prst="rect">
            <a:avLst/>
          </a:prstGeom>
          <a:solidFill>
            <a:srgbClr val="1A2F5E"/>
          </a:solidFill>
          <a:ln w="5080">
            <a:solidFill>
              <a:srgbClr val="2A4A8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0896" y="3081528"/>
            <a:ext cx="420624" cy="420624"/>
          </a:xfrm>
          <a:prstGeom prst="ellipse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" y="30815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59536" y="3118104"/>
            <a:ext cx="1051560" cy="219456"/>
          </a:xfrm>
          <a:prstGeom prst="rect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9536" y="3118104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029968" y="3044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Last-Mile Delivery Partnership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029968" y="3319272"/>
            <a:ext cx="6748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Pedidos Ya / Urban Express for home delivery of medications and natural products.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6032" y="3666744"/>
            <a:ext cx="8631936" cy="603504"/>
          </a:xfrm>
          <a:prstGeom prst="rect">
            <a:avLst/>
          </a:prstGeom>
          <a:solidFill>
            <a:srgbClr val="1A2F5E"/>
          </a:solidFill>
          <a:ln w="5080">
            <a:solidFill>
              <a:srgbClr val="2A4A8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10896" y="3758184"/>
            <a:ext cx="420624" cy="420624"/>
          </a:xfrm>
          <a:prstGeom prst="ellipse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0896" y="3758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59536" y="3794760"/>
            <a:ext cx="1051560" cy="219456"/>
          </a:xfrm>
          <a:prstGeom prst="rect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9536" y="3794760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029968" y="37216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Products Line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029968" y="3995928"/>
            <a:ext cx="6748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suppliers for herbal supplements, nutraceuticals, and natural health products catalog.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56032" y="4343400"/>
            <a:ext cx="8631936" cy="603504"/>
          </a:xfrm>
          <a:prstGeom prst="rect">
            <a:avLst/>
          </a:prstGeom>
          <a:solidFill>
            <a:srgbClr val="1A2F5E"/>
          </a:solidFill>
          <a:ln w="5080">
            <a:solidFill>
              <a:srgbClr val="2A4A8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10896" y="4434840"/>
            <a:ext cx="420624" cy="420624"/>
          </a:xfrm>
          <a:prstGeom prst="ellipse">
            <a:avLst/>
          </a:prstGeom>
          <a:solidFill>
            <a:srgbClr val="6C75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0896" y="44348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59536" y="4471416"/>
            <a:ext cx="1051560" cy="219456"/>
          </a:xfrm>
          <a:prstGeom prst="rect">
            <a:avLst/>
          </a:prstGeom>
          <a:solidFill>
            <a:srgbClr val="6C75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9536" y="4471416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2029968" y="43982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Launch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029968" y="4672584"/>
            <a:ext cx="6748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for the Bitcoin community in El Salvador via meetups, conferences, and social media.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0" y="4956048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BitFarma  ·  Cubo+ Graduation Project  ·  El Salvador 2026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0" y="-365760"/>
            <a:ext cx="3200400" cy="3200400"/>
          </a:xfrm>
          <a:prstGeom prst="ellipse">
            <a:avLst/>
          </a:prstGeom>
          <a:solidFill>
            <a:srgbClr val="1A2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640080" y="3291840"/>
            <a:ext cx="2286000" cy="2286000"/>
          </a:xfrm>
          <a:prstGeom prst="ellipse">
            <a:avLst/>
          </a:prstGeom>
          <a:solidFill>
            <a:srgbClr val="1A2F5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457200"/>
            <a:ext cx="2834640" cy="4389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35040" y="457200"/>
            <a:ext cx="2834640" cy="4389120"/>
          </a:xfrm>
          <a:prstGeom prst="rect">
            <a:avLst/>
          </a:prstGeom>
          <a:solidFill>
            <a:srgbClr val="0D1B3E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1" descr="/mnt/user-data/uploads/100022081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320040"/>
            <a:ext cx="3931920" cy="9235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8912" y="1389888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"Fix the money. Fix the world.</a:t>
            </a:r>
            <a:endParaRPr lang="en-US" sz="1800" dirty="0"/>
          </a:p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healthcare."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438912" y="2340864"/>
            <a:ext cx="502920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38912" y="2468880"/>
            <a:ext cx="2468880" cy="438912"/>
          </a:xfrm>
          <a:prstGeom prst="rect">
            <a:avLst/>
          </a:prstGeom>
          <a:solidFill>
            <a:srgbClr val="1A2F5E"/>
          </a:solidFill>
          <a:ln w="10160">
            <a:solidFill>
              <a:srgbClr val="2A9D3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30352" y="24688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Working app — deployed on Railway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017520" y="2468880"/>
            <a:ext cx="2468880" cy="438912"/>
          </a:xfrm>
          <a:prstGeom prst="rect">
            <a:avLst/>
          </a:prstGeom>
          <a:solidFill>
            <a:srgbClr val="1A2F5E"/>
          </a:solidFill>
          <a:ln w="10160">
            <a:solidFill>
              <a:srgbClr val="2A9D3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108960" y="24688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Tiankii integration — QR Lightning LIVE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38912" y="2980944"/>
            <a:ext cx="2468880" cy="438912"/>
          </a:xfrm>
          <a:prstGeom prst="rect">
            <a:avLst/>
          </a:prstGeom>
          <a:solidFill>
            <a:srgbClr val="1A2F5E"/>
          </a:solidFill>
          <a:ln w="10160">
            <a:solidFill>
              <a:srgbClr val="2A9D3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30352" y="2980944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Payment confirmation — webhook active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017520" y="2980944"/>
            <a:ext cx="2468880" cy="438912"/>
          </a:xfrm>
          <a:prstGeom prst="rect">
            <a:avLst/>
          </a:prstGeom>
          <a:solidFill>
            <a:srgbClr val="1A2F5E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108960" y="2980944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Workflow auto-update — in progress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38912" y="3493008"/>
            <a:ext cx="2468880" cy="438912"/>
          </a:xfrm>
          <a:prstGeom prst="rect">
            <a:avLst/>
          </a:prstGeom>
          <a:solidFill>
            <a:srgbClr val="1A2F5E"/>
          </a:solidFill>
          <a:ln w="10160">
            <a:solidFill>
              <a:srgbClr val="1E6DB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30352" y="349300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Natural products line — in development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3017520" y="3493008"/>
            <a:ext cx="2468880" cy="438912"/>
          </a:xfrm>
          <a:prstGeom prst="rect">
            <a:avLst/>
          </a:prstGeom>
          <a:solidFill>
            <a:srgbClr val="1A2F5E"/>
          </a:solidFill>
          <a:ln w="10160">
            <a:solidFill>
              <a:srgbClr val="1E6DB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108960" y="349300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 Delivery network — alliances in progress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0" y="4901184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Cubo+ Graduation Project  ·  El Salvador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BitFarma — Updated Graduation Presentation v2.0</dc:title>
  <dc:subject>PptxGenJS Presentation</dc:subject>
  <dc:creator>PptxGenJS</dc:creator>
  <cp:lastModifiedBy>PptxGenJS</cp:lastModifiedBy>
  <cp:revision>1</cp:revision>
  <dcterms:created xsi:type="dcterms:W3CDTF">2026-06-19T01:11:45Z</dcterms:created>
  <dcterms:modified xsi:type="dcterms:W3CDTF">2026-06-19T01:11:45Z</dcterms:modified>
</cp:coreProperties>
</file>